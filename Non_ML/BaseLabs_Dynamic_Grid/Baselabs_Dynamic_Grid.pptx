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82" r:id="rId5"/>
    <p:sldId id="262" r:id="rId6"/>
    <p:sldId id="263" r:id="rId7"/>
    <p:sldId id="272" r:id="rId8"/>
    <p:sldId id="273" r:id="rId9"/>
    <p:sldId id="276" r:id="rId10"/>
    <p:sldId id="275" r:id="rId11"/>
    <p:sldId id="274" r:id="rId12"/>
    <p:sldId id="271" r:id="rId13"/>
    <p:sldId id="264" r:id="rId14"/>
    <p:sldId id="266" r:id="rId15"/>
    <p:sldId id="278" r:id="rId16"/>
    <p:sldId id="267" r:id="rId17"/>
    <p:sldId id="258" r:id="rId18"/>
    <p:sldId id="281" r:id="rId19"/>
    <p:sldId id="280" r:id="rId20"/>
    <p:sldId id="268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0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1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02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0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9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9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2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4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9A928-4B8D-43C4-A00E-DC5D36857D2A}" type="datetimeFigureOut">
              <a:rPr lang="en-US" smtClean="0"/>
              <a:t>16-Aug-22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1333F-18A3-4462-8157-2C00E2C88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7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selabs.de/sensor-fusion/" TargetMode="External"/><Relationship Id="rId2" Type="http://schemas.openxmlformats.org/officeDocument/2006/relationships/hyperlink" Target="https://www.youtube.com/watch?v=jVlS0J65_qM&amp;authuser=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5OmwuYPE8OY&amp;list=PL4n1NYuDyIVZJ7DnU3dJoJn-5QOVa7FZz&amp;index=2" TargetMode="External"/><Relationship Id="rId4" Type="http://schemas.openxmlformats.org/officeDocument/2006/relationships/hyperlink" Target="https://www.baselabs.de/en/sensor-fusion/sensor-fusion-literature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53803"/>
            <a:ext cx="9144000" cy="125616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BASELABS DYNAMIC GRID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BASELABS GmbH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4408" y="772451"/>
            <a:ext cx="103664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/>
              <a:t>Sensor Fusion Products for Automated Driving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Support ADAS / AD functions </a:t>
            </a:r>
          </a:p>
          <a:p>
            <a:pPr marL="742950" lvl="1" indent="-285750">
              <a:buFontTx/>
              <a:buChar char="-"/>
            </a:pPr>
            <a:r>
              <a:rPr lang="en-US" dirty="0" smtClean="0"/>
              <a:t>City AEBS, ACC</a:t>
            </a:r>
          </a:p>
          <a:p>
            <a:pPr marL="742950" lvl="1" indent="-285750">
              <a:buFontTx/>
              <a:buChar char="-"/>
            </a:pPr>
            <a:r>
              <a:rPr lang="en-US" dirty="0" smtClean="0"/>
              <a:t>Traffic Jam Pilot / Highway Pilot</a:t>
            </a:r>
          </a:p>
          <a:p>
            <a:pPr marL="742950" lvl="1" indent="-285750">
              <a:buFontTx/>
              <a:buChar char="-"/>
            </a:pPr>
            <a:r>
              <a:rPr lang="en-US" dirty="0" smtClean="0"/>
              <a:t>Automated Valet Parking</a:t>
            </a:r>
          </a:p>
          <a:p>
            <a:pPr marL="285750" indent="-285750">
              <a:buFontTx/>
              <a:buChar char="-"/>
            </a:pPr>
            <a:r>
              <a:rPr lang="en-US" i="1" u="sng" dirty="0" smtClean="0"/>
              <a:t>ASPICE / ISO26262 compliant</a:t>
            </a:r>
          </a:p>
          <a:p>
            <a:pPr marL="285750" indent="-285750">
              <a:buFontTx/>
              <a:buChar char="-"/>
            </a:pPr>
            <a:r>
              <a:rPr lang="en-US" i="1" u="sng" dirty="0" smtClean="0"/>
              <a:t>Capable of running on Off-the-shelf CPUs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69145" y="3232145"/>
            <a:ext cx="10472873" cy="2627742"/>
            <a:chOff x="766963" y="3734422"/>
            <a:chExt cx="9523257" cy="2137543"/>
          </a:xfrm>
        </p:grpSpPr>
        <p:grpSp>
          <p:nvGrpSpPr>
            <p:cNvPr id="10" name="Group 9"/>
            <p:cNvGrpSpPr/>
            <p:nvPr/>
          </p:nvGrpSpPr>
          <p:grpSpPr>
            <a:xfrm>
              <a:off x="766963" y="3937718"/>
              <a:ext cx="9523257" cy="1934247"/>
              <a:chOff x="612417" y="3937718"/>
              <a:chExt cx="9115425" cy="1600200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2417" y="3937718"/>
                <a:ext cx="9115425" cy="1600200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>
                <a:off x="2588654" y="4340181"/>
                <a:ext cx="1983346" cy="592428"/>
              </a:xfrm>
              <a:prstGeom prst="rect">
                <a:avLst/>
              </a:prstGeom>
              <a:noFill/>
              <a:ln w="3810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l="22145" t="26910" r="56351" b="40609"/>
            <a:stretch/>
          </p:blipFill>
          <p:spPr>
            <a:xfrm>
              <a:off x="5473856" y="3734422"/>
              <a:ext cx="1970467" cy="553792"/>
            </a:xfrm>
            <a:prstGeom prst="rect">
              <a:avLst/>
            </a:prstGeom>
          </p:spPr>
        </p:pic>
      </p:grpSp>
      <p:cxnSp>
        <p:nvCxnSpPr>
          <p:cNvPr id="12" name="Straight Arrow Connector 11"/>
          <p:cNvCxnSpPr>
            <a:stCxn id="9" idx="3"/>
            <a:endCxn id="6" idx="1"/>
          </p:cNvCxnSpPr>
          <p:nvPr/>
        </p:nvCxnSpPr>
        <p:spPr>
          <a:xfrm flipV="1">
            <a:off x="5118380" y="3572541"/>
            <a:ext cx="627008" cy="9477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80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435851" y="1481070"/>
            <a:ext cx="8764217" cy="5028553"/>
            <a:chOff x="1422972" y="606726"/>
            <a:chExt cx="9100367" cy="5606683"/>
          </a:xfrm>
        </p:grpSpPr>
        <p:sp>
          <p:nvSpPr>
            <p:cNvPr id="5" name="Rounded Rectangle 4"/>
            <p:cNvSpPr/>
            <p:nvPr/>
          </p:nvSpPr>
          <p:spPr>
            <a:xfrm>
              <a:off x="4546851" y="606726"/>
              <a:ext cx="3444470" cy="5606683"/>
            </a:xfrm>
            <a:prstGeom prst="roundRect">
              <a:avLst>
                <a:gd name="adj" fmla="val 4906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ysClr val="windowText" lastClr="000000"/>
                  </a:solidFill>
                </a:rPr>
                <a:t>BASELABS </a:t>
              </a:r>
            </a:p>
            <a:p>
              <a:pPr algn="ctr"/>
              <a:r>
                <a:rPr lang="en-US" sz="1400" dirty="0" smtClean="0">
                  <a:solidFill>
                    <a:sysClr val="windowText" lastClr="000000"/>
                  </a:solidFill>
                </a:rPr>
                <a:t>Environment model</a:t>
              </a:r>
              <a:endParaRPr lang="en-US" sz="14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140747" y="1166166"/>
              <a:ext cx="2382592" cy="4487802"/>
              <a:chOff x="8140747" y="1302783"/>
              <a:chExt cx="2382592" cy="4487802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8140747" y="1302783"/>
                <a:ext cx="2382592" cy="359232"/>
                <a:chOff x="8512935" y="2210209"/>
                <a:chExt cx="2382592" cy="359232"/>
              </a:xfrm>
            </p:grpSpPr>
            <p:cxnSp>
              <p:nvCxnSpPr>
                <p:cNvPr id="7" name="Straight Arrow Connector 6"/>
                <p:cNvCxnSpPr/>
                <p:nvPr/>
              </p:nvCxnSpPr>
              <p:spPr>
                <a:xfrm>
                  <a:off x="8512935" y="2556562"/>
                  <a:ext cx="2382592" cy="1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/>
                <p:cNvSpPr txBox="1"/>
                <p:nvPr/>
              </p:nvSpPr>
              <p:spPr>
                <a:xfrm>
                  <a:off x="8541291" y="2210209"/>
                  <a:ext cx="2325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 smtClean="0"/>
                    <a:t>Dynamic objects</a:t>
                  </a:r>
                  <a:endParaRPr lang="en-US" sz="1600" dirty="0"/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8140747" y="4049986"/>
                <a:ext cx="2382592" cy="351433"/>
                <a:chOff x="8512935" y="3195228"/>
                <a:chExt cx="2382592" cy="351433"/>
              </a:xfrm>
            </p:grpSpPr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8512935" y="3533782"/>
                  <a:ext cx="2382592" cy="1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TextBox 11"/>
                <p:cNvSpPr txBox="1"/>
                <p:nvPr/>
              </p:nvSpPr>
              <p:spPr>
                <a:xfrm>
                  <a:off x="8541292" y="3195228"/>
                  <a:ext cx="2325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 smtClean="0"/>
                    <a:t>Grid map</a:t>
                  </a:r>
                  <a:endParaRPr lang="en-US" sz="1600" dirty="0"/>
                </a:p>
              </p:txBody>
            </p:sp>
          </p:grpSp>
          <p:grpSp>
            <p:nvGrpSpPr>
              <p:cNvPr id="47" name="Group 46"/>
              <p:cNvGrpSpPr/>
              <p:nvPr/>
            </p:nvGrpSpPr>
            <p:grpSpPr>
              <a:xfrm>
                <a:off x="8140747" y="2666182"/>
                <a:ext cx="2382592" cy="379637"/>
                <a:chOff x="8505422" y="2664175"/>
                <a:chExt cx="2382592" cy="379637"/>
              </a:xfrm>
            </p:grpSpPr>
            <p:cxnSp>
              <p:nvCxnSpPr>
                <p:cNvPr id="8" name="Straight Arrow Connector 7"/>
                <p:cNvCxnSpPr/>
                <p:nvPr/>
              </p:nvCxnSpPr>
              <p:spPr>
                <a:xfrm>
                  <a:off x="8505422" y="3030933"/>
                  <a:ext cx="2382592" cy="1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/>
                <p:cNvSpPr txBox="1"/>
                <p:nvPr/>
              </p:nvSpPr>
              <p:spPr>
                <a:xfrm>
                  <a:off x="8533779" y="2664175"/>
                  <a:ext cx="2325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 smtClean="0"/>
                    <a:t>Free space polygon</a:t>
                  </a:r>
                  <a:endParaRPr lang="en-US" sz="1600" dirty="0"/>
                </a:p>
              </p:txBody>
            </p:sp>
          </p:grpSp>
          <p:grpSp>
            <p:nvGrpSpPr>
              <p:cNvPr id="49" name="Group 48"/>
              <p:cNvGrpSpPr/>
              <p:nvPr/>
            </p:nvGrpSpPr>
            <p:grpSpPr>
              <a:xfrm>
                <a:off x="8140747" y="5405587"/>
                <a:ext cx="2382592" cy="384998"/>
                <a:chOff x="8154925" y="4815834"/>
                <a:chExt cx="2382592" cy="384998"/>
              </a:xfrm>
            </p:grpSpPr>
            <p:cxnSp>
              <p:nvCxnSpPr>
                <p:cNvPr id="10" name="Straight Arrow Connector 9"/>
                <p:cNvCxnSpPr/>
                <p:nvPr/>
              </p:nvCxnSpPr>
              <p:spPr>
                <a:xfrm>
                  <a:off x="8154925" y="5187953"/>
                  <a:ext cx="2382592" cy="1287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/>
                <p:cNvSpPr txBox="1"/>
                <p:nvPr/>
              </p:nvSpPr>
              <p:spPr>
                <a:xfrm>
                  <a:off x="8183282" y="4815834"/>
                  <a:ext cx="232587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 smtClean="0"/>
                    <a:t>Parking spots</a:t>
                  </a:r>
                  <a:endParaRPr lang="en-US" sz="1600" dirty="0"/>
                </a:p>
              </p:txBody>
            </p:sp>
          </p:grpSp>
        </p:grpSp>
        <p:grpSp>
          <p:nvGrpSpPr>
            <p:cNvPr id="50" name="Group 49"/>
            <p:cNvGrpSpPr/>
            <p:nvPr/>
          </p:nvGrpSpPr>
          <p:grpSpPr>
            <a:xfrm>
              <a:off x="1422972" y="859722"/>
              <a:ext cx="2974454" cy="5100690"/>
              <a:chOff x="1422972" y="710833"/>
              <a:chExt cx="2974454" cy="5100690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1422972" y="710833"/>
                <a:ext cx="2974454" cy="1183004"/>
                <a:chOff x="1397694" y="1412195"/>
                <a:chExt cx="2974454" cy="1183004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397694" y="1412195"/>
                  <a:ext cx="2974454" cy="367715"/>
                  <a:chOff x="1404363" y="1412195"/>
                  <a:chExt cx="2974454" cy="367715"/>
                </a:xfrm>
              </p:grpSpPr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1728650" y="1412195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High Resolution Radar</a:t>
                    </a:r>
                    <a:endParaRPr lang="en-US" sz="1600" dirty="0"/>
                  </a:p>
                </p:txBody>
              </p:sp>
              <p:cxnSp>
                <p:nvCxnSpPr>
                  <p:cNvPr id="25" name="Straight Arrow Connector 24"/>
                  <p:cNvCxnSpPr/>
                  <p:nvPr/>
                </p:nvCxnSpPr>
                <p:spPr>
                  <a:xfrm>
                    <a:off x="1404363" y="1779910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" name="Group 27"/>
                <p:cNvGrpSpPr/>
                <p:nvPr/>
              </p:nvGrpSpPr>
              <p:grpSpPr>
                <a:xfrm>
                  <a:off x="1397694" y="1829018"/>
                  <a:ext cx="2974454" cy="338554"/>
                  <a:chOff x="1391028" y="1833274"/>
                  <a:chExt cx="2974454" cy="338554"/>
                </a:xfrm>
              </p:grpSpPr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1715315" y="1833274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Radar Detections</a:t>
                    </a:r>
                    <a:endParaRPr lang="en-US" sz="1600" dirty="0"/>
                  </a:p>
                </p:txBody>
              </p:sp>
              <p:cxnSp>
                <p:nvCxnSpPr>
                  <p:cNvPr id="27" name="Straight Arrow Connector 26"/>
                  <p:cNvCxnSpPr/>
                  <p:nvPr/>
                </p:nvCxnSpPr>
                <p:spPr>
                  <a:xfrm>
                    <a:off x="1391028" y="2171828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" name="Group 29"/>
                <p:cNvGrpSpPr/>
                <p:nvPr/>
              </p:nvGrpSpPr>
              <p:grpSpPr>
                <a:xfrm>
                  <a:off x="1397694" y="2216681"/>
                  <a:ext cx="2974454" cy="378518"/>
                  <a:chOff x="1391026" y="2216681"/>
                  <a:chExt cx="2974454" cy="378518"/>
                </a:xfrm>
              </p:grpSpPr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715314" y="2216681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Smart Radar objects</a:t>
                    </a:r>
                    <a:endParaRPr lang="en-US" sz="1600" dirty="0"/>
                  </a:p>
                </p:txBody>
              </p:sp>
              <p:cxnSp>
                <p:nvCxnSpPr>
                  <p:cNvPr id="29" name="Straight Arrow Connector 28"/>
                  <p:cNvCxnSpPr/>
                  <p:nvPr/>
                </p:nvCxnSpPr>
                <p:spPr>
                  <a:xfrm>
                    <a:off x="1391026" y="2595199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" name="Group 40"/>
              <p:cNvGrpSpPr/>
              <p:nvPr/>
            </p:nvGrpSpPr>
            <p:grpSpPr>
              <a:xfrm>
                <a:off x="1422972" y="2670102"/>
                <a:ext cx="2974454" cy="1148404"/>
                <a:chOff x="1394153" y="3062836"/>
                <a:chExt cx="2974454" cy="1148404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1394153" y="3062836"/>
                  <a:ext cx="2974454" cy="364678"/>
                  <a:chOff x="1404363" y="3062836"/>
                  <a:chExt cx="2974454" cy="364678"/>
                </a:xfrm>
              </p:grpSpPr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1715316" y="3062836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Camera Bounding Boxes</a:t>
                    </a:r>
                    <a:endParaRPr lang="en-US" sz="1600" dirty="0"/>
                  </a:p>
                </p:txBody>
              </p:sp>
              <p:cxnSp>
                <p:nvCxnSpPr>
                  <p:cNvPr id="32" name="Straight Arrow Connector 31"/>
                  <p:cNvCxnSpPr/>
                  <p:nvPr/>
                </p:nvCxnSpPr>
                <p:spPr>
                  <a:xfrm>
                    <a:off x="1404363" y="3427514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" name="Group 38"/>
                <p:cNvGrpSpPr/>
                <p:nvPr/>
              </p:nvGrpSpPr>
              <p:grpSpPr>
                <a:xfrm>
                  <a:off x="1394153" y="3495025"/>
                  <a:ext cx="2974454" cy="310150"/>
                  <a:chOff x="1358186" y="3757220"/>
                  <a:chExt cx="2974454" cy="310150"/>
                </a:xfrm>
              </p:grpSpPr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1404363" y="3757220"/>
                    <a:ext cx="2882101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smtClean="0"/>
                      <a:t>Camera Semantic information</a:t>
                    </a:r>
                    <a:endParaRPr lang="en-US" sz="1400" dirty="0"/>
                  </a:p>
                </p:txBody>
              </p:sp>
              <p:cxnSp>
                <p:nvCxnSpPr>
                  <p:cNvPr id="33" name="Straight Arrow Connector 32"/>
                  <p:cNvCxnSpPr/>
                  <p:nvPr/>
                </p:nvCxnSpPr>
                <p:spPr>
                  <a:xfrm>
                    <a:off x="1358186" y="4067370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/>
                <p:cNvGrpSpPr/>
                <p:nvPr/>
              </p:nvGrpSpPr>
              <p:grpSpPr>
                <a:xfrm>
                  <a:off x="1394153" y="3872686"/>
                  <a:ext cx="2974454" cy="338554"/>
                  <a:chOff x="1358186" y="4218885"/>
                  <a:chExt cx="2974454" cy="338554"/>
                </a:xfrm>
              </p:grpSpPr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1682474" y="4218885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Camera point cloud</a:t>
                    </a:r>
                    <a:endParaRPr lang="en-US" sz="1600" dirty="0"/>
                  </a:p>
                </p:txBody>
              </p:sp>
              <p:cxnSp>
                <p:nvCxnSpPr>
                  <p:cNvPr id="35" name="Straight Arrow Connector 34"/>
                  <p:cNvCxnSpPr/>
                  <p:nvPr/>
                </p:nvCxnSpPr>
                <p:spPr>
                  <a:xfrm>
                    <a:off x="1358186" y="4557439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5" name="Group 44"/>
              <p:cNvGrpSpPr/>
              <p:nvPr/>
            </p:nvGrpSpPr>
            <p:grpSpPr>
              <a:xfrm>
                <a:off x="1422972" y="4594770"/>
                <a:ext cx="2974454" cy="1216753"/>
                <a:chOff x="1279599" y="3783398"/>
                <a:chExt cx="2974454" cy="1216753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1279599" y="3783398"/>
                  <a:ext cx="2974454" cy="340970"/>
                  <a:chOff x="1287885" y="3783398"/>
                  <a:chExt cx="2974454" cy="340970"/>
                </a:xfrm>
              </p:grpSpPr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1612173" y="3783398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Lidar Point Cloud</a:t>
                    </a:r>
                    <a:endParaRPr lang="en-US" sz="1600" dirty="0"/>
                  </a:p>
                </p:txBody>
              </p:sp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1287885" y="4124368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1279599" y="4661597"/>
                  <a:ext cx="2974454" cy="338554"/>
                  <a:chOff x="1285727" y="4797728"/>
                  <a:chExt cx="2974454" cy="338554"/>
                </a:xfrm>
              </p:grpSpPr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1610015" y="4797728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Smart Lidar Objects</a:t>
                    </a:r>
                    <a:endParaRPr lang="en-US" sz="1600" dirty="0"/>
                  </a:p>
                </p:txBody>
              </p:sp>
              <p:cxnSp>
                <p:nvCxnSpPr>
                  <p:cNvPr id="36" name="Straight Arrow Connector 35"/>
                  <p:cNvCxnSpPr/>
                  <p:nvPr/>
                </p:nvCxnSpPr>
                <p:spPr>
                  <a:xfrm>
                    <a:off x="1285727" y="5123403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" name="Group 41"/>
                <p:cNvGrpSpPr/>
                <p:nvPr/>
              </p:nvGrpSpPr>
              <p:grpSpPr>
                <a:xfrm>
                  <a:off x="1279599" y="4223405"/>
                  <a:ext cx="2974454" cy="339156"/>
                  <a:chOff x="1285727" y="4354932"/>
                  <a:chExt cx="2974454" cy="339156"/>
                </a:xfrm>
              </p:grpSpPr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1610015" y="4354932"/>
                    <a:ext cx="23258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600" dirty="0" smtClean="0"/>
                      <a:t>Lidar Cluster</a:t>
                    </a:r>
                    <a:endParaRPr lang="en-US" sz="1600" dirty="0"/>
                  </a:p>
                </p:txBody>
              </p:sp>
              <p:cxnSp>
                <p:nvCxnSpPr>
                  <p:cNvPr id="37" name="Straight Arrow Connector 36"/>
                  <p:cNvCxnSpPr/>
                  <p:nvPr/>
                </p:nvCxnSpPr>
                <p:spPr>
                  <a:xfrm>
                    <a:off x="1285727" y="4694088"/>
                    <a:ext cx="2974454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BASELABS Perception Stack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03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53803"/>
            <a:ext cx="9144000" cy="125616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AUTOMATED VALET PARKING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97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Requirements for Perception System for Automated Valet Parking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19" y="1244019"/>
            <a:ext cx="9503489" cy="437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8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Existing Sensor Fusion Solutions 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8" y="772451"/>
            <a:ext cx="68762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Existing Sensor Fusion Solutions work well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Well-structured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Similar Traffic Participants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Limited number of scenarios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Assisted Parking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Highway AEBS / ACC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Lane Keep, Lane Departure </a:t>
            </a:r>
            <a:r>
              <a:rPr lang="en-US" dirty="0" smtClean="0"/>
              <a:t>Warnings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2 Main components of Existing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 smtClean="0"/>
              <a:t>Dynamic Object 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u="sng" dirty="0" smtClean="0"/>
              <a:t>Static Grid Fusion</a:t>
            </a:r>
            <a:endParaRPr lang="en-US" i="1" u="sng" dirty="0"/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73" y="4551949"/>
            <a:ext cx="10612178" cy="1449142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784" y="638599"/>
            <a:ext cx="6065413" cy="304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15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Object Fusion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8" y="772450"/>
            <a:ext cx="6155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Required Low-resolution Sensor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Requires priori known object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Based on Kalman filter – Unimodal, Gaussian, Non-Linearity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Well suited for large distance tracking of Dynamic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Limited performance for near distance and extended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support for </a:t>
            </a:r>
            <a:r>
              <a:rPr lang="en-US" dirty="0"/>
              <a:t>s</a:t>
            </a:r>
            <a:r>
              <a:rPr lang="en-US" dirty="0" smtClean="0"/>
              <a:t>tatic environments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784"/>
          <a:stretch/>
        </p:blipFill>
        <p:spPr>
          <a:xfrm>
            <a:off x="7585656" y="425004"/>
            <a:ext cx="4082604" cy="37295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47" y="4627696"/>
            <a:ext cx="10590795" cy="13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1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High Resolution Sensor Data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8" y="1371456"/>
            <a:ext cx="5369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Range, Azimuth and Doppler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Large number of detections per objects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Detection-level output for low-level fusion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1" t="385" r="436"/>
          <a:stretch/>
        </p:blipFill>
        <p:spPr>
          <a:xfrm>
            <a:off x="284408" y="2511381"/>
            <a:ext cx="6098788" cy="34263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361" y="2511382"/>
            <a:ext cx="5387228" cy="3426386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284408" y="929447"/>
            <a:ext cx="2690612" cy="4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Radar Measurements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593363" y="929446"/>
            <a:ext cx="3297612" cy="4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solidFill>
                  <a:srgbClr val="0070C0"/>
                </a:solidFill>
              </a:rPr>
              <a:t>Dense Camera Detections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0361" y="1371455"/>
            <a:ext cx="5369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Semantic annotation and / or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Pixel level class and / or depth information</a:t>
            </a:r>
          </a:p>
        </p:txBody>
      </p:sp>
    </p:spTree>
    <p:extLst>
      <p:ext uri="{BB962C8B-B14F-4D97-AF65-F5344CB8AC3E}">
        <p14:creationId xmlns:p14="http://schemas.microsoft.com/office/powerpoint/2010/main" val="365346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Limitations of Dynamic Object Fusion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7" y="772450"/>
            <a:ext cx="90270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Limited performance for close-range and extended </a:t>
            </a:r>
            <a:r>
              <a:rPr lang="en-US" sz="1600" dirty="0" smtClean="0"/>
              <a:t>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Requires clustering of high-res sensor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Prone to errors due to early decision on data </a:t>
            </a:r>
            <a:r>
              <a:rPr lang="en-US" sz="1600" dirty="0" smtClean="0"/>
              <a:t>association</a:t>
            </a:r>
            <a:endParaRPr lang="en-US" sz="16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Required prior known object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Inherent risk to miss unknown dynamic </a:t>
            </a:r>
            <a:r>
              <a:rPr lang="en-US" sz="1600" dirty="0" smtClean="0"/>
              <a:t>objects</a:t>
            </a:r>
            <a:endParaRPr lang="en-US" sz="1600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1" y="2730077"/>
            <a:ext cx="4494010" cy="36694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r="632"/>
          <a:stretch/>
        </p:blipFill>
        <p:spPr>
          <a:xfrm>
            <a:off x="6180787" y="2730077"/>
            <a:ext cx="4619222" cy="36694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r="43651"/>
          <a:stretch/>
        </p:blipFill>
        <p:spPr>
          <a:xfrm>
            <a:off x="6376116" y="848114"/>
            <a:ext cx="516335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5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Static </a:t>
            </a:r>
            <a:r>
              <a:rPr lang="en-US" sz="2400" b="1" dirty="0" smtClean="0">
                <a:solidFill>
                  <a:srgbClr val="0070C0"/>
                </a:solidFill>
              </a:rPr>
              <a:t>Grid </a:t>
            </a:r>
            <a:r>
              <a:rPr lang="en-US" sz="2400" b="1" dirty="0" smtClean="0">
                <a:solidFill>
                  <a:srgbClr val="0070C0"/>
                </a:solidFill>
              </a:rPr>
              <a:t>Fusion and its limitations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8" y="772450"/>
            <a:ext cx="73270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Static grid map contains </a:t>
            </a:r>
            <a:r>
              <a:rPr lang="en-US" sz="1600" dirty="0" smtClean="0"/>
              <a:t>static objects </a:t>
            </a:r>
            <a:r>
              <a:rPr lang="en-US" sz="1600" dirty="0" smtClean="0"/>
              <a:t>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Results in false negatives for free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Workaround : Exclusion of measurements from dynamic objects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Error propagation from dynamic object fusion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High risk to fail in challenging scenarios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r="44378"/>
          <a:stretch/>
        </p:blipFill>
        <p:spPr>
          <a:xfrm>
            <a:off x="6459426" y="829331"/>
            <a:ext cx="5054287" cy="12096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054" y="3145129"/>
            <a:ext cx="3585676" cy="30211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52" y="3348507"/>
            <a:ext cx="3582489" cy="30185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45129"/>
            <a:ext cx="3598377" cy="301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2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Perception System for Next Generation ADAS / AD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408" y="772450"/>
            <a:ext cx="6155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Provides Object Extensions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Object Motion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Provides static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Provides free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Supports unknown object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Supports high-resolution sensor inputs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37" y="1034225"/>
            <a:ext cx="5442690" cy="416980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19367" y="4340407"/>
            <a:ext cx="3605279" cy="1644492"/>
            <a:chOff x="2293244" y="3476674"/>
            <a:chExt cx="3605279" cy="1644492"/>
          </a:xfrm>
        </p:grpSpPr>
        <p:grpSp>
          <p:nvGrpSpPr>
            <p:cNvPr id="4" name="Group 3"/>
            <p:cNvGrpSpPr/>
            <p:nvPr/>
          </p:nvGrpSpPr>
          <p:grpSpPr>
            <a:xfrm>
              <a:off x="2293244" y="3516875"/>
              <a:ext cx="3605279" cy="1604291"/>
              <a:chOff x="567476" y="3793658"/>
              <a:chExt cx="3605279" cy="1604291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3"/>
              <a:srcRect l="8808" t="12903" r="14320"/>
              <a:stretch/>
            </p:blipFill>
            <p:spPr>
              <a:xfrm>
                <a:off x="746974" y="4095482"/>
                <a:ext cx="2884868" cy="1302467"/>
              </a:xfrm>
              <a:prstGeom prst="rect">
                <a:avLst/>
              </a:prstGeom>
            </p:spPr>
          </p:pic>
          <p:sp>
            <p:nvSpPr>
              <p:cNvPr id="7" name="Title 1"/>
              <p:cNvSpPr txBox="1">
                <a:spLocks/>
              </p:cNvSpPr>
              <p:nvPr/>
            </p:nvSpPr>
            <p:spPr>
              <a:xfrm>
                <a:off x="567476" y="3793658"/>
                <a:ext cx="3605279" cy="39197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600" b="1" dirty="0" smtClean="0">
                    <a:solidFill>
                      <a:srgbClr val="0070C0"/>
                    </a:solidFill>
                  </a:rPr>
                  <a:t>Current solutions features</a:t>
                </a:r>
                <a:endParaRPr lang="en-US" sz="1600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2293244" y="3476674"/>
              <a:ext cx="3154519" cy="1644492"/>
            </a:xfrm>
            <a:prstGeom prst="rect">
              <a:avLst/>
            </a:prstGeom>
            <a:noFill/>
            <a:ln w="28575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Up-Down Arrow 8"/>
          <p:cNvSpPr/>
          <p:nvPr/>
        </p:nvSpPr>
        <p:spPr>
          <a:xfrm>
            <a:off x="1977308" y="2751599"/>
            <a:ext cx="244699" cy="136516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99657" y="3128092"/>
            <a:ext cx="1474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Mismatch b/w problem and solution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1960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Grid Fusion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95" y="2955988"/>
            <a:ext cx="11342937" cy="14743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4408" y="772450"/>
            <a:ext cx="6155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Low level sensor fusion approach without early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Integrated estimation of static and dynamic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 error propagation due to early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Supports high-resolution sensor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Support for unknown object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Fewer modelling assumptions</a:t>
            </a:r>
          </a:p>
        </p:txBody>
      </p:sp>
    </p:spTree>
    <p:extLst>
      <p:ext uri="{BB962C8B-B14F-4D97-AF65-F5344CB8AC3E}">
        <p14:creationId xmlns:p14="http://schemas.microsoft.com/office/powerpoint/2010/main" val="487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Grid</a:t>
            </a:r>
            <a:endParaRPr lang="en-US" sz="2400" b="1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19063" y="1300766"/>
            <a:ext cx="4235016" cy="4885776"/>
            <a:chOff x="622094" y="1300766"/>
            <a:chExt cx="4235016" cy="488577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665" y="1300766"/>
              <a:ext cx="4215445" cy="3916376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094" y="5192581"/>
              <a:ext cx="2948188" cy="993961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284409" y="734097"/>
            <a:ext cx="3749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First parent – Static occupancy grid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5686" y="734097"/>
            <a:ext cx="5408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Second parent – Particle filtering on dynamic objects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629" y="1300766"/>
            <a:ext cx="3844197" cy="41587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801" y="5065870"/>
            <a:ext cx="2912770" cy="124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Grid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4409" y="734097"/>
            <a:ext cx="5255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Allows for additionally fusing Semantic information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66" y="1979432"/>
            <a:ext cx="3752850" cy="3714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54" y="1222195"/>
            <a:ext cx="504825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7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006" y="1436248"/>
            <a:ext cx="9750446" cy="434859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Software Stack for L4 Parking (SOTIF consideration)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98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grid using Radars + Cameras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1088"/>
          <a:stretch/>
        </p:blipFill>
        <p:spPr>
          <a:xfrm>
            <a:off x="912790" y="903970"/>
            <a:ext cx="9712280" cy="52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4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Dynamic grid Advantages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b="27404"/>
          <a:stretch/>
        </p:blipFill>
        <p:spPr>
          <a:xfrm>
            <a:off x="1636690" y="2765422"/>
            <a:ext cx="8202769" cy="33359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84409" y="734097"/>
            <a:ext cx="601844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 Detection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By Low-level sensor fusion without object extraction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Low False Alarm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By Integrated estimation of static and dynamic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Runs on Automotive CPUs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By Minimizing particles in static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0563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9" y="1052894"/>
            <a:ext cx="10515600" cy="1484245"/>
          </a:xfrm>
        </p:spPr>
        <p:txBody>
          <a:bodyPr>
            <a:normAutofit/>
          </a:bodyPr>
          <a:lstStyle/>
          <a:p>
            <a:r>
              <a:rPr lang="en-US" sz="1600" dirty="0" err="1" smtClean="0">
                <a:hlinkClick r:id="rId2"/>
              </a:rPr>
              <a:t>Baselabs</a:t>
            </a:r>
            <a:r>
              <a:rPr lang="en-US" sz="1600" dirty="0" smtClean="0">
                <a:hlinkClick r:id="rId2"/>
              </a:rPr>
              <a:t> </a:t>
            </a:r>
            <a:r>
              <a:rPr lang="en-US" sz="1600" dirty="0">
                <a:hlinkClick r:id="rId2"/>
              </a:rPr>
              <a:t>Automated Parking </a:t>
            </a:r>
            <a:r>
              <a:rPr lang="en-US" sz="1600" dirty="0" smtClean="0">
                <a:hlinkClick r:id="rId2"/>
              </a:rPr>
              <a:t>webinar</a:t>
            </a:r>
            <a:endParaRPr lang="en-US" sz="1600" dirty="0" smtClean="0"/>
          </a:p>
          <a:p>
            <a:r>
              <a:rPr lang="en-US" sz="1600" dirty="0" smtClean="0">
                <a:hlinkClick r:id="rId3"/>
              </a:rPr>
              <a:t>Sensor Fusion Hub </a:t>
            </a:r>
            <a:r>
              <a:rPr lang="en-US" sz="1600" dirty="0" err="1" smtClean="0">
                <a:hlinkClick r:id="rId3"/>
              </a:rPr>
              <a:t>Baselabs</a:t>
            </a:r>
            <a:endParaRPr lang="en-US" sz="1600" dirty="0"/>
          </a:p>
          <a:p>
            <a:r>
              <a:rPr lang="en-US" sz="1600" dirty="0" smtClean="0">
                <a:hlinkClick r:id="rId4"/>
              </a:rPr>
              <a:t>Sensor Fusion Literature</a:t>
            </a:r>
            <a:endParaRPr lang="en-US" sz="1600" dirty="0" smtClean="0"/>
          </a:p>
          <a:p>
            <a:r>
              <a:rPr lang="en-US" sz="1600" dirty="0" smtClean="0">
                <a:hlinkClick r:id="rId5"/>
              </a:rPr>
              <a:t>Next-gen Sensor Fusion </a:t>
            </a:r>
            <a:r>
              <a:rPr lang="en-US" sz="1600" dirty="0" err="1" smtClean="0">
                <a:hlinkClick r:id="rId5"/>
              </a:rPr>
              <a:t>Baselabs</a:t>
            </a:r>
            <a:r>
              <a:rPr lang="en-US" sz="1600" dirty="0" smtClean="0">
                <a:hlinkClick r:id="rId5"/>
              </a:rPr>
              <a:t> YT video</a:t>
            </a:r>
            <a:endParaRPr lang="en-US" sz="1600" dirty="0" smtClean="0"/>
          </a:p>
          <a:p>
            <a:endParaRPr lang="en-US" sz="16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References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83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53803"/>
            <a:ext cx="9144000" cy="125616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Backup slides</a:t>
            </a:r>
            <a:endParaRPr lang="en-US" sz="4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998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Dynamic grid Advantages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814387"/>
            <a:ext cx="93345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31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09" y="313611"/>
            <a:ext cx="10515600" cy="42048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Levels of Automated Parking</a:t>
            </a:r>
            <a:endParaRPr lang="en-US" sz="2400" b="1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19" y="1021723"/>
            <a:ext cx="8653731" cy="499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5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475</Words>
  <Application>Microsoft Office PowerPoint</Application>
  <PresentationFormat>Widescreen</PresentationFormat>
  <Paragraphs>105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BASELABS DYNAMIC GRID</vt:lpstr>
      <vt:lpstr>BASELABS GmbH</vt:lpstr>
      <vt:lpstr>BASELABS Perception Stack</vt:lpstr>
      <vt:lpstr>AUTOMATED VALET PARKING</vt:lpstr>
      <vt:lpstr>Requirements for Perception System for Automated Valet Parking</vt:lpstr>
      <vt:lpstr>Existing Sensor Fusion Solutions </vt:lpstr>
      <vt:lpstr>Dynamic Object Fusion</vt:lpstr>
      <vt:lpstr>High Resolution Sensor Data</vt:lpstr>
      <vt:lpstr>Limitations of Dynamic Object Fusion</vt:lpstr>
      <vt:lpstr>Static Grid Fusion and its limitations</vt:lpstr>
      <vt:lpstr>Perception System for Next Generation ADAS / AD</vt:lpstr>
      <vt:lpstr>Dynamic Grid Fusion</vt:lpstr>
      <vt:lpstr>Dynamic Grid</vt:lpstr>
      <vt:lpstr>Dynamic Grid</vt:lpstr>
      <vt:lpstr>Software Stack for L4 Parking (SOTIF consideration)</vt:lpstr>
      <vt:lpstr>Dynamic grid using Radars + Cameras</vt:lpstr>
      <vt:lpstr>Dynamic grid Advantages</vt:lpstr>
      <vt:lpstr>References</vt:lpstr>
      <vt:lpstr>Backup slides</vt:lpstr>
      <vt:lpstr>Dynamic grid Advantages</vt:lpstr>
      <vt:lpstr>Levels of Automated Parking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Baselabs Dynamic Grid</dc:title>
  <dc:creator>Suresh J</dc:creator>
  <cp:lastModifiedBy>Suresh J</cp:lastModifiedBy>
  <cp:revision>32</cp:revision>
  <dcterms:created xsi:type="dcterms:W3CDTF">2022-08-07T05:04:39Z</dcterms:created>
  <dcterms:modified xsi:type="dcterms:W3CDTF">2022-08-16T00:51:06Z</dcterms:modified>
</cp:coreProperties>
</file>